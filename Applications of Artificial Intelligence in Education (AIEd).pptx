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Open Sans" charset="1" panose="000000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  <p:embeddedFont>
      <p:font typeface="Inter" charset="1" panose="020B05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60113" y="0"/>
            <a:ext cx="3525134" cy="3889803"/>
            <a:chOff x="0" y="0"/>
            <a:chExt cx="7366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6767">
                    <a:alpha val="100000"/>
                  </a:srgbClr>
                </a:gs>
                <a:gs pos="100000">
                  <a:srgbClr val="FFD1D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868979" y="464205"/>
            <a:ext cx="20025958" cy="203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2"/>
              </a:lnSpc>
            </a:pPr>
            <a:r>
              <a:rPr lang="en-US" b="true" sz="580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APPLIC</a:t>
            </a:r>
            <a:r>
              <a:rPr lang="en-US" b="true" sz="580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ATIONS OF ARTIFICIAL INTELLIGENCE IN EDUCATION (AIED)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5759" y="4603457"/>
            <a:ext cx="16656482" cy="488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sz="46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Artificial Intelligence in Education (AIEd) is a multidisciplinary field that integrates machine learning, natural language pr</a:t>
            </a:r>
            <a:r>
              <a:rPr lang="en-US" sz="46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ocessing (NLP), and algorithmic systems to replicate aspects of human intelligence. It aims to enhance learning experiences, automate administrative tasks, and support inclusive and effective education systems.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1570" y="396821"/>
            <a:ext cx="9284798" cy="2700338"/>
            <a:chOff x="0" y="0"/>
            <a:chExt cx="2445379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5379" cy="711200"/>
            </a:xfrm>
            <a:custGeom>
              <a:avLst/>
              <a:gdLst/>
              <a:ahLst/>
              <a:cxnLst/>
              <a:rect r="r" b="b" t="t" l="l"/>
              <a:pathLst>
                <a:path h="711200" w="2445379">
                  <a:moveTo>
                    <a:pt x="2135138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2135138" y="551732"/>
                  </a:lnTo>
                  <a:cubicBezTo>
                    <a:pt x="2318942" y="551732"/>
                    <a:pt x="2445379" y="428220"/>
                    <a:pt x="2445379" y="275861"/>
                  </a:cubicBezTo>
                  <a:cubicBezTo>
                    <a:pt x="2445390" y="123512"/>
                    <a:pt x="2318942" y="0"/>
                    <a:pt x="2135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4B9FF">
                    <a:alpha val="100000"/>
                  </a:srgbClr>
                </a:gs>
                <a:gs pos="100000">
                  <a:srgbClr val="E894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445379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1570" y="4806532"/>
            <a:ext cx="17430259" cy="4602877"/>
            <a:chOff x="0" y="0"/>
            <a:chExt cx="4590686" cy="1212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0686" cy="1212280"/>
            </a:xfrm>
            <a:custGeom>
              <a:avLst/>
              <a:gdLst/>
              <a:ahLst/>
              <a:cxnLst/>
              <a:rect r="r" b="b" t="t" l="l"/>
              <a:pathLst>
                <a:path h="1212280" w="4590686">
                  <a:moveTo>
                    <a:pt x="22652" y="0"/>
                  </a:moveTo>
                  <a:lnTo>
                    <a:pt x="4568033" y="0"/>
                  </a:lnTo>
                  <a:cubicBezTo>
                    <a:pt x="4574041" y="0"/>
                    <a:pt x="4579803" y="2387"/>
                    <a:pt x="4584051" y="6635"/>
                  </a:cubicBezTo>
                  <a:cubicBezTo>
                    <a:pt x="4588299" y="10883"/>
                    <a:pt x="4590686" y="16645"/>
                    <a:pt x="4590686" y="22652"/>
                  </a:cubicBezTo>
                  <a:lnTo>
                    <a:pt x="4590686" y="1189628"/>
                  </a:lnTo>
                  <a:cubicBezTo>
                    <a:pt x="4590686" y="1202139"/>
                    <a:pt x="4580544" y="1212280"/>
                    <a:pt x="4568033" y="1212280"/>
                  </a:cubicBezTo>
                  <a:lnTo>
                    <a:pt x="22652" y="1212280"/>
                  </a:lnTo>
                  <a:cubicBezTo>
                    <a:pt x="10142" y="1212280"/>
                    <a:pt x="0" y="1202139"/>
                    <a:pt x="0" y="1189628"/>
                  </a:cubicBezTo>
                  <a:lnTo>
                    <a:pt x="0" y="22652"/>
                  </a:lnTo>
                  <a:cubicBezTo>
                    <a:pt x="0" y="10142"/>
                    <a:pt x="10142" y="0"/>
                    <a:pt x="226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7C90">
                    <a:alpha val="100000"/>
                  </a:srgbClr>
                </a:gs>
                <a:gs pos="100000">
                  <a:srgbClr val="FFE1A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90686" cy="1250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45135" y="895350"/>
            <a:ext cx="8917669" cy="117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2"/>
              </a:lnSpc>
              <a:spcBef>
                <a:spcPct val="0"/>
              </a:spcBef>
            </a:pPr>
            <a:r>
              <a:rPr lang="en-US" b="true" sz="69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OVERVIEW OF AIED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076825"/>
            <a:ext cx="16230600" cy="481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3548" indent="-331774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USES DATA-DRIVEN ALGORITHMS T</a:t>
            </a:r>
            <a:r>
              <a:rPr lang="en-US" b="true" sz="30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 SUPPORT TEACHING AND LEARNING</a:t>
            </a:r>
          </a:p>
          <a:p>
            <a:pPr algn="ctr">
              <a:lnSpc>
                <a:spcPts val="4302"/>
              </a:lnSpc>
              <a:spcBef>
                <a:spcPct val="0"/>
              </a:spcBef>
            </a:pPr>
            <a:r>
              <a:rPr lang="en-US" b="true" sz="30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  <a:p>
            <a:pPr algn="ctr" marL="663548" indent="-331774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AUTOMATES REPETITIVE ACADEMIC AND ADMINISTRATIVE PROCESSES</a:t>
            </a:r>
          </a:p>
          <a:p>
            <a:pPr algn="ctr">
              <a:lnSpc>
                <a:spcPts val="4302"/>
              </a:lnSpc>
              <a:spcBef>
                <a:spcPct val="0"/>
              </a:spcBef>
            </a:pPr>
          </a:p>
          <a:p>
            <a:pPr algn="ctr" marL="663548" indent="-331774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PROVIDES REAL-TIME FEEDBACK TO LEARNERS AND EDUCATORS</a:t>
            </a:r>
          </a:p>
          <a:p>
            <a:pPr algn="ctr">
              <a:lnSpc>
                <a:spcPts val="4302"/>
              </a:lnSpc>
              <a:spcBef>
                <a:spcPct val="0"/>
              </a:spcBef>
            </a:pPr>
          </a:p>
          <a:p>
            <a:pPr algn="ctr" marL="663548" indent="-331774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SUPPORTS PERSONALIZATION, ACCESSIBILITY, AND INSTITUTIONAL EFFICIENCY</a:t>
            </a:r>
          </a:p>
          <a:p>
            <a:pPr algn="ctr">
              <a:lnSpc>
                <a:spcPts val="43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80246" y="0"/>
            <a:ext cx="23868246" cy="14243503"/>
            <a:chOff x="0" y="0"/>
            <a:chExt cx="713937" cy="426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3937" cy="426046"/>
            </a:xfrm>
            <a:custGeom>
              <a:avLst/>
              <a:gdLst/>
              <a:ahLst/>
              <a:cxnLst/>
              <a:rect r="r" b="b" t="t" l="l"/>
              <a:pathLst>
                <a:path h="426046" w="713937">
                  <a:moveTo>
                    <a:pt x="713937" y="0"/>
                  </a:moveTo>
                  <a:lnTo>
                    <a:pt x="713937" y="232389"/>
                  </a:lnTo>
                  <a:lnTo>
                    <a:pt x="394944" y="426046"/>
                  </a:lnTo>
                  <a:lnTo>
                    <a:pt x="0" y="426046"/>
                  </a:lnTo>
                  <a:lnTo>
                    <a:pt x="0" y="189784"/>
                  </a:lnTo>
                  <a:lnTo>
                    <a:pt x="314436" y="0"/>
                  </a:lnTo>
                  <a:lnTo>
                    <a:pt x="713937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D8C6">
                    <a:alpha val="100000"/>
                  </a:srgbClr>
                </a:gs>
                <a:gs pos="50000">
                  <a:srgbClr val="BC5EFF">
                    <a:alpha val="100000"/>
                  </a:srgbClr>
                </a:gs>
                <a:gs pos="100000">
                  <a:srgbClr val="1E063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1521" y="63570"/>
              <a:ext cx="470895" cy="26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27238" y="933450"/>
            <a:ext cx="12233523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</a:t>
            </a:r>
            <a:r>
              <a:rPr lang="en-US" b="true" sz="5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rsonalised and Adaptive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46492"/>
            <a:ext cx="16230600" cy="114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enables customized learning experiences based on individual student needs, learning pace, and performance.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1597" y="4796273"/>
            <a:ext cx="17264609" cy="539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Adaptive Learning Pathways:</a:t>
            </a:r>
          </a:p>
          <a:p>
            <a:pPr algn="ctr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Systems analyse quiz results, engagement, and progress to adjust lesson difficulty and recommend resources.</a:t>
            </a:r>
          </a:p>
          <a:p>
            <a:pPr algn="ctr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Intelligent Tutoring Systems (ITS):</a:t>
            </a:r>
          </a:p>
          <a:p>
            <a:pPr algn="ctr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AI-powered tutors provide one-to-one guidance, identify learning gaps, and deliver instant feedback.</a:t>
            </a:r>
          </a:p>
          <a:p>
            <a:pPr algn="ctr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Foundational Skill Coaching:</a:t>
            </a:r>
          </a:p>
          <a:p>
            <a:pPr algn="ctr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 tools (e.g., EdGPT-like systems) support self-paced learning in subjects such as language, mathematics, arts, and coding.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87418" y="-245342"/>
            <a:ext cx="19075418" cy="10532342"/>
            <a:chOff x="0" y="0"/>
            <a:chExt cx="1059157" cy="584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9157" cy="579799"/>
            </a:xfrm>
            <a:custGeom>
              <a:avLst/>
              <a:gdLst/>
              <a:ahLst/>
              <a:cxnLst/>
              <a:rect r="r" b="b" t="t" l="l"/>
              <a:pathLst>
                <a:path h="579799" w="1059157">
                  <a:moveTo>
                    <a:pt x="1051388" y="0"/>
                  </a:moveTo>
                  <a:lnTo>
                    <a:pt x="7768" y="0"/>
                  </a:lnTo>
                  <a:cubicBezTo>
                    <a:pt x="3478" y="0"/>
                    <a:pt x="0" y="3478"/>
                    <a:pt x="0" y="7768"/>
                  </a:cubicBezTo>
                  <a:lnTo>
                    <a:pt x="0" y="524605"/>
                  </a:lnTo>
                  <a:cubicBezTo>
                    <a:pt x="56338" y="570033"/>
                    <a:pt x="236620" y="621918"/>
                    <a:pt x="507042" y="524605"/>
                  </a:cubicBezTo>
                  <a:cubicBezTo>
                    <a:pt x="777466" y="415576"/>
                    <a:pt x="987795" y="479176"/>
                    <a:pt x="1059157" y="524605"/>
                  </a:cubicBezTo>
                  <a:lnTo>
                    <a:pt x="1059157" y="7768"/>
                  </a:lnTo>
                  <a:cubicBezTo>
                    <a:pt x="1059157" y="3478"/>
                    <a:pt x="1055679" y="0"/>
                    <a:pt x="10513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6FF4">
                    <a:alpha val="100000"/>
                  </a:srgbClr>
                </a:gs>
                <a:gs pos="100000">
                  <a:srgbClr val="E870C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9157" cy="497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677267"/>
            <a:ext cx="18288000" cy="521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acts as a support tool for educators by reducing workload and enhancing instructi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onal quality.</a:t>
            </a:r>
          </a:p>
          <a:p>
            <a:pPr algn="ctr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Generation:</a:t>
            </a:r>
          </a:p>
          <a:p>
            <a:pPr algn="ctr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Assists in creating lesson plans, syllabi, lecture notes, and multimedia learning materials.</a:t>
            </a:r>
          </a:p>
          <a:p>
            <a:pPr algn="ctr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Assessment Creation:</a:t>
            </a:r>
          </a:p>
          <a:p>
            <a:pPr algn="ctr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Generates quizzes, MCQs, case-based scenarios, and evaluation scripts for professional and academic exams.</a:t>
            </a:r>
          </a:p>
          <a:p>
            <a:pPr algn="ctr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Flipped Classroom Support:</a:t>
            </a:r>
          </a:p>
          <a:p>
            <a:pPr algn="ctr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Provides interactive learning content for at-home study, allowing classroom time to focus on discussion and application.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29463" y="257175"/>
            <a:ext cx="17829074" cy="1909957"/>
            <a:chOff x="0" y="0"/>
            <a:chExt cx="4695723" cy="503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95723" cy="503034"/>
            </a:xfrm>
            <a:custGeom>
              <a:avLst/>
              <a:gdLst/>
              <a:ahLst/>
              <a:cxnLst/>
              <a:rect r="r" b="b" t="t" l="l"/>
              <a:pathLst>
                <a:path h="503034" w="4695723">
                  <a:moveTo>
                    <a:pt x="4492523" y="0"/>
                  </a:moveTo>
                  <a:cubicBezTo>
                    <a:pt x="4604747" y="0"/>
                    <a:pt x="4695723" y="112608"/>
                    <a:pt x="4695723" y="251517"/>
                  </a:cubicBezTo>
                  <a:cubicBezTo>
                    <a:pt x="4695723" y="390426"/>
                    <a:pt x="4604747" y="503034"/>
                    <a:pt x="4492523" y="503034"/>
                  </a:cubicBezTo>
                  <a:lnTo>
                    <a:pt x="203200" y="503034"/>
                  </a:lnTo>
                  <a:cubicBezTo>
                    <a:pt x="90976" y="503034"/>
                    <a:pt x="0" y="390426"/>
                    <a:pt x="0" y="251517"/>
                  </a:cubicBezTo>
                  <a:cubicBezTo>
                    <a:pt x="0" y="112608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4B9FF">
                    <a:alpha val="100000"/>
                  </a:srgbClr>
                </a:gs>
                <a:gs pos="100000">
                  <a:srgbClr val="E894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695723" cy="541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7798" y="699707"/>
            <a:ext cx="16852404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Instructi</a:t>
            </a:r>
            <a:r>
              <a:rPr lang="en-US" b="true" sz="5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onal Design and Curriculum Development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61759" y="0"/>
            <a:ext cx="3198303" cy="4411168"/>
            <a:chOff x="0" y="0"/>
            <a:chExt cx="842351" cy="1161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351" cy="1161789"/>
            </a:xfrm>
            <a:custGeom>
              <a:avLst/>
              <a:gdLst/>
              <a:ahLst/>
              <a:cxnLst/>
              <a:rect r="r" b="b" t="t" l="l"/>
              <a:pathLst>
                <a:path h="1161789" w="842351">
                  <a:moveTo>
                    <a:pt x="842351" y="0"/>
                  </a:moveTo>
                  <a:lnTo>
                    <a:pt x="842351" y="1161789"/>
                  </a:lnTo>
                  <a:lnTo>
                    <a:pt x="421176" y="1034789"/>
                  </a:lnTo>
                  <a:lnTo>
                    <a:pt x="0" y="1161789"/>
                  </a:lnTo>
                  <a:lnTo>
                    <a:pt x="0" y="0"/>
                  </a:lnTo>
                  <a:lnTo>
                    <a:pt x="84235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42351" cy="1072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97434" y="723794"/>
            <a:ext cx="14963477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b="true" sz="5399" spc="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Administ</a:t>
            </a:r>
            <a:r>
              <a:rPr lang="en-US" b="true" sz="5399" spc="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rative and Institutional Automation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354018"/>
            <a:ext cx="17954449" cy="573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improves efficiency within educational institutions.</a:t>
            </a:r>
          </a:p>
          <a:p>
            <a:pPr algn="ctr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Grading:</a:t>
            </a:r>
          </a:p>
          <a:p>
            <a:pPr algn="ctr" marL="626104" indent="-313052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Quickly evaluates objective answers and uses NLP to assess essays f</a:t>
            </a: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 structure, clarity, and relevance.</a:t>
            </a:r>
          </a:p>
          <a:p>
            <a:pPr algn="ctr" marL="626104" indent="-313052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Reporting and Feedback:</a:t>
            </a:r>
          </a:p>
          <a:p>
            <a:pPr algn="ctr" marL="626104" indent="-313052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Generates progress reports by analysing attendance, performance, and behavioural data.</a:t>
            </a:r>
          </a:p>
          <a:p>
            <a:pPr algn="ctr" marL="626104" indent="-313052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Admissions and Student Support:</a:t>
            </a:r>
          </a:p>
          <a:p>
            <a:pPr algn="ctr" marL="626104" indent="-313052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Chatbots assist with admissions, financial aid queries, and application screening.</a:t>
            </a:r>
          </a:p>
          <a:p>
            <a:pPr algn="ctr" marL="626104" indent="-313052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Academic Security:</a:t>
            </a:r>
          </a:p>
          <a:p>
            <a:pPr algn="ctr" marL="626104" indent="-313052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Blockchain-based AI systems help verify academic credentials and prevent fraud.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80246" y="-200131"/>
            <a:ext cx="24301862" cy="14243503"/>
            <a:chOff x="0" y="0"/>
            <a:chExt cx="726908" cy="426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6908" cy="426046"/>
            </a:xfrm>
            <a:custGeom>
              <a:avLst/>
              <a:gdLst/>
              <a:ahLst/>
              <a:cxnLst/>
              <a:rect r="r" b="b" t="t" l="l"/>
              <a:pathLst>
                <a:path h="426046" w="726908">
                  <a:moveTo>
                    <a:pt x="726908" y="0"/>
                  </a:moveTo>
                  <a:lnTo>
                    <a:pt x="726908" y="232389"/>
                  </a:lnTo>
                  <a:lnTo>
                    <a:pt x="402119" y="426046"/>
                  </a:lnTo>
                  <a:lnTo>
                    <a:pt x="0" y="426046"/>
                  </a:lnTo>
                  <a:lnTo>
                    <a:pt x="0" y="189784"/>
                  </a:lnTo>
                  <a:lnTo>
                    <a:pt x="320149" y="0"/>
                  </a:lnTo>
                  <a:lnTo>
                    <a:pt x="72690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D8C6">
                    <a:alpha val="100000"/>
                  </a:srgbClr>
                </a:gs>
                <a:gs pos="50000">
                  <a:srgbClr val="BC5EFF">
                    <a:alpha val="100000"/>
                  </a:srgbClr>
                </a:gs>
                <a:gs pos="100000">
                  <a:srgbClr val="1E063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3729" y="63570"/>
              <a:ext cx="479450" cy="26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32174" y="1284287"/>
            <a:ext cx="14223653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6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pecialised Disciplinary Applications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33055"/>
            <a:ext cx="15890222" cy="495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t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ools are customised to meet the needs of specific academic fields.</a:t>
            </a:r>
          </a:p>
          <a:p>
            <a:pPr algn="ctr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Medical Education:</a:t>
            </a:r>
          </a:p>
          <a:p>
            <a:pPr algn="ctr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Virtual patient simulations, surgical skill evaluation, and radiograph interpretation.</a:t>
            </a:r>
          </a:p>
          <a:p>
            <a:pPr algn="ctr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 and Photography:</a:t>
            </a:r>
          </a:p>
          <a:p>
            <a:pPr algn="ctr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AI-assisted AR systems provide feedback on composition and visual aesthetics.</a:t>
            </a:r>
          </a:p>
          <a:p>
            <a:pPr algn="ctr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Nutrition and Sustainability:</a:t>
            </a:r>
          </a:p>
          <a:p>
            <a:pPr algn="ctr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Gamified AI apps evaluate dietary choices and environmental impact.</a:t>
            </a:r>
          </a:p>
          <a:p>
            <a:pPr algn="ctr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Vocational Training:</a:t>
            </a:r>
          </a:p>
          <a:p>
            <a:pPr algn="ctr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Robotics and automation tools support hands-on industrial and logistics training.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87418" y="-245342"/>
            <a:ext cx="19075418" cy="10532342"/>
            <a:chOff x="0" y="0"/>
            <a:chExt cx="1059157" cy="584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9157" cy="579799"/>
            </a:xfrm>
            <a:custGeom>
              <a:avLst/>
              <a:gdLst/>
              <a:ahLst/>
              <a:cxnLst/>
              <a:rect r="r" b="b" t="t" l="l"/>
              <a:pathLst>
                <a:path h="579799" w="1059157">
                  <a:moveTo>
                    <a:pt x="1051388" y="0"/>
                  </a:moveTo>
                  <a:lnTo>
                    <a:pt x="7768" y="0"/>
                  </a:lnTo>
                  <a:cubicBezTo>
                    <a:pt x="3478" y="0"/>
                    <a:pt x="0" y="3478"/>
                    <a:pt x="0" y="7768"/>
                  </a:cubicBezTo>
                  <a:lnTo>
                    <a:pt x="0" y="524605"/>
                  </a:lnTo>
                  <a:cubicBezTo>
                    <a:pt x="56338" y="570033"/>
                    <a:pt x="236620" y="621918"/>
                    <a:pt x="507042" y="524605"/>
                  </a:cubicBezTo>
                  <a:cubicBezTo>
                    <a:pt x="777466" y="415576"/>
                    <a:pt x="987795" y="479176"/>
                    <a:pt x="1059157" y="524605"/>
                  </a:cubicBezTo>
                  <a:lnTo>
                    <a:pt x="1059157" y="7768"/>
                  </a:lnTo>
                  <a:cubicBezTo>
                    <a:pt x="1059157" y="3478"/>
                    <a:pt x="1055679" y="0"/>
                    <a:pt x="10513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6FF4">
                    <a:alpha val="100000"/>
                  </a:srgbClr>
                </a:gs>
                <a:gs pos="100000">
                  <a:srgbClr val="E870C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9157" cy="497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691572"/>
            <a:ext cx="18288000" cy="521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supports higher education and research activ</a:t>
            </a: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ities.</a:t>
            </a:r>
          </a:p>
          <a:p>
            <a:pPr algn="ctr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Knowledge Synthesis:</a:t>
            </a:r>
          </a:p>
          <a:p>
            <a:pPr algn="ctr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Accelerates literature reviews and summarises academic papers.</a:t>
            </a:r>
          </a:p>
          <a:p>
            <a:pPr algn="ctr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</a:t>
            </a: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 Generation:</a:t>
            </a:r>
          </a:p>
          <a:p>
            <a:pPr algn="ctr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researchers brainstorm topics, refine research questions, and draft proposals.</a:t>
            </a:r>
          </a:p>
          <a:p>
            <a:pPr algn="ctr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igital Literacy:</a:t>
            </a:r>
          </a:p>
          <a:p>
            <a:pPr algn="ctr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Training in effective AI interaction (prompt design) is emerging as a key professional skill.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29463" y="257175"/>
            <a:ext cx="17829074" cy="1909957"/>
            <a:chOff x="0" y="0"/>
            <a:chExt cx="4695723" cy="503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95723" cy="503034"/>
            </a:xfrm>
            <a:custGeom>
              <a:avLst/>
              <a:gdLst/>
              <a:ahLst/>
              <a:cxnLst/>
              <a:rect r="r" b="b" t="t" l="l"/>
              <a:pathLst>
                <a:path h="503034" w="4695723">
                  <a:moveTo>
                    <a:pt x="4492523" y="0"/>
                  </a:moveTo>
                  <a:cubicBezTo>
                    <a:pt x="4604747" y="0"/>
                    <a:pt x="4695723" y="112608"/>
                    <a:pt x="4695723" y="251517"/>
                  </a:cubicBezTo>
                  <a:cubicBezTo>
                    <a:pt x="4695723" y="390426"/>
                    <a:pt x="4604747" y="503034"/>
                    <a:pt x="4492523" y="503034"/>
                  </a:cubicBezTo>
                  <a:lnTo>
                    <a:pt x="203200" y="503034"/>
                  </a:lnTo>
                  <a:cubicBezTo>
                    <a:pt x="90976" y="503034"/>
                    <a:pt x="0" y="390426"/>
                    <a:pt x="0" y="251517"/>
                  </a:cubicBezTo>
                  <a:cubicBezTo>
                    <a:pt x="0" y="112608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4B9FF">
                    <a:alpha val="100000"/>
                  </a:srgbClr>
                </a:gs>
                <a:gs pos="100000">
                  <a:srgbClr val="E894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695723" cy="541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51012" y="699707"/>
            <a:ext cx="15185975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Productiv</a:t>
            </a:r>
            <a:r>
              <a:rPr lang="en-US" b="true" sz="5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ity and Academic Literacy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2614" y="396821"/>
            <a:ext cx="16356089" cy="3697551"/>
            <a:chOff x="0" y="0"/>
            <a:chExt cx="4307776" cy="9738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07777" cy="973841"/>
            </a:xfrm>
            <a:custGeom>
              <a:avLst/>
              <a:gdLst/>
              <a:ahLst/>
              <a:cxnLst/>
              <a:rect r="r" b="b" t="t" l="l"/>
              <a:pathLst>
                <a:path h="973841" w="4307777">
                  <a:moveTo>
                    <a:pt x="3965808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418857"/>
                  </a:cubicBezTo>
                  <a:cubicBezTo>
                    <a:pt x="0" y="648809"/>
                    <a:pt x="66279" y="743950"/>
                    <a:pt x="162037" y="788092"/>
                  </a:cubicBezTo>
                  <a:lnTo>
                    <a:pt x="162037" y="973841"/>
                  </a:lnTo>
                  <a:lnTo>
                    <a:pt x="353844" y="814373"/>
                  </a:lnTo>
                  <a:lnTo>
                    <a:pt x="3965808" y="814373"/>
                  </a:lnTo>
                  <a:cubicBezTo>
                    <a:pt x="4181339" y="814373"/>
                    <a:pt x="4307777" y="690860"/>
                    <a:pt x="4307777" y="418805"/>
                  </a:cubicBezTo>
                  <a:cubicBezTo>
                    <a:pt x="4307788" y="123512"/>
                    <a:pt x="4181339" y="0"/>
                    <a:pt x="39658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4B9FF">
                    <a:alpha val="100000"/>
                  </a:srgbClr>
                </a:gs>
                <a:gs pos="100000">
                  <a:srgbClr val="E894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307776" cy="783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1570" y="4806532"/>
            <a:ext cx="17430259" cy="4602877"/>
            <a:chOff x="0" y="0"/>
            <a:chExt cx="4590686" cy="1212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0686" cy="1212280"/>
            </a:xfrm>
            <a:custGeom>
              <a:avLst/>
              <a:gdLst/>
              <a:ahLst/>
              <a:cxnLst/>
              <a:rect r="r" b="b" t="t" l="l"/>
              <a:pathLst>
                <a:path h="1212280" w="4590686">
                  <a:moveTo>
                    <a:pt x="22652" y="0"/>
                  </a:moveTo>
                  <a:lnTo>
                    <a:pt x="4568033" y="0"/>
                  </a:lnTo>
                  <a:cubicBezTo>
                    <a:pt x="4574041" y="0"/>
                    <a:pt x="4579803" y="2387"/>
                    <a:pt x="4584051" y="6635"/>
                  </a:cubicBezTo>
                  <a:cubicBezTo>
                    <a:pt x="4588299" y="10883"/>
                    <a:pt x="4590686" y="16645"/>
                    <a:pt x="4590686" y="22652"/>
                  </a:cubicBezTo>
                  <a:lnTo>
                    <a:pt x="4590686" y="1189628"/>
                  </a:lnTo>
                  <a:cubicBezTo>
                    <a:pt x="4590686" y="1202139"/>
                    <a:pt x="4580544" y="1212280"/>
                    <a:pt x="4568033" y="1212280"/>
                  </a:cubicBezTo>
                  <a:lnTo>
                    <a:pt x="22652" y="1212280"/>
                  </a:lnTo>
                  <a:cubicBezTo>
                    <a:pt x="10142" y="1212280"/>
                    <a:pt x="0" y="1202139"/>
                    <a:pt x="0" y="1189628"/>
                  </a:cubicBezTo>
                  <a:lnTo>
                    <a:pt x="0" y="22652"/>
                  </a:lnTo>
                  <a:cubicBezTo>
                    <a:pt x="0" y="10142"/>
                    <a:pt x="10142" y="0"/>
                    <a:pt x="226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7C90">
                    <a:alpha val="100000"/>
                  </a:srgbClr>
                </a:gs>
                <a:gs pos="100000">
                  <a:srgbClr val="FFE1A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90686" cy="1250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2614" y="654208"/>
            <a:ext cx="16722772" cy="237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2"/>
              </a:lnSpc>
              <a:spcBef>
                <a:spcPct val="0"/>
              </a:spcBef>
            </a:pPr>
            <a:r>
              <a:rPr lang="en-US" b="true" sz="68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INCLUS</a:t>
            </a:r>
            <a:r>
              <a:rPr lang="en-US" b="true" sz="68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ION AND ASSISTIVE TECHNOLOGIES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614" y="5086350"/>
            <a:ext cx="16230600" cy="484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8779" indent="-299390" lvl="1">
              <a:lnSpc>
                <a:spcPts val="3882"/>
              </a:lnSpc>
              <a:buFont typeface="Arial"/>
              <a:buChar char="•"/>
            </a:pPr>
            <a:r>
              <a:rPr lang="en-US" b="true" sz="27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 ENHANCES ACCESSIBILITY AND SUPPORTS LEARNERS WITH DISABILITIES.</a:t>
            </a:r>
          </a:p>
          <a:p>
            <a:pPr algn="ctr" marL="598779" indent="-299390" lvl="1">
              <a:lnSpc>
                <a:spcPts val="38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COMMUNICATI</a:t>
            </a:r>
            <a:r>
              <a:rPr lang="en-US" b="true" sz="27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ON SUPPORT:</a:t>
            </a:r>
          </a:p>
          <a:p>
            <a:pPr algn="ctr" marL="598779" indent="-299390" lvl="1">
              <a:lnSpc>
                <a:spcPts val="3882"/>
              </a:lnSpc>
              <a:spcBef>
                <a:spcPct val="0"/>
              </a:spcBef>
              <a:buFont typeface="Arial"/>
              <a:buChar char="•"/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AI-BASED AAC DEVICES, SPEECH RECOGNITION, TRANSCRIPTION, AND SIGN-</a:t>
            </a:r>
            <a:r>
              <a:rPr lang="en-US" b="true" sz="27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LANGUAGE TOOLS.</a:t>
            </a:r>
          </a:p>
          <a:p>
            <a:pPr algn="ctr" marL="598779" indent="-299390" lvl="1">
              <a:lnSpc>
                <a:spcPts val="38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READING AND FOCUS ASSISTANCE:</a:t>
            </a:r>
          </a:p>
          <a:p>
            <a:pPr algn="ctr" marL="598779" indent="-299390" lvl="1">
              <a:lnSpc>
                <a:spcPts val="3882"/>
              </a:lnSpc>
              <a:spcBef>
                <a:spcPct val="0"/>
              </a:spcBef>
              <a:buFont typeface="Arial"/>
              <a:buChar char="•"/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TEXT-TO-SPEECH TOOLS AND AI-GENERATED SUMMARIES AID NEURODIVERS</a:t>
            </a:r>
            <a:r>
              <a:rPr lang="en-US" b="true" sz="27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LEARNERS.</a:t>
            </a:r>
          </a:p>
          <a:p>
            <a:pPr algn="ctr" marL="598779" indent="-299390" lvl="1">
              <a:lnSpc>
                <a:spcPts val="38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7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EXECUTIVE FUNCTION SUPPORT:</a:t>
            </a:r>
          </a:p>
          <a:p>
            <a:pPr algn="ctr" marL="598779" indent="-299390" lvl="1">
              <a:lnSpc>
                <a:spcPts val="3882"/>
              </a:lnSpc>
              <a:spcBef>
                <a:spcPct val="0"/>
              </a:spcBef>
              <a:buFont typeface="Arial"/>
              <a:buChar char="•"/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AI PLANNERS HELP ORGANISE SCHEDULES AND BREAK COMPLEX TASKS INTO SMALLER STEPS.</a:t>
            </a:r>
          </a:p>
          <a:p>
            <a:pPr algn="ctr">
              <a:lnSpc>
                <a:spcPts val="38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61759" y="0"/>
            <a:ext cx="3198303" cy="4411168"/>
            <a:chOff x="0" y="0"/>
            <a:chExt cx="842351" cy="1161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2351" cy="1161789"/>
            </a:xfrm>
            <a:custGeom>
              <a:avLst/>
              <a:gdLst/>
              <a:ahLst/>
              <a:cxnLst/>
              <a:rect r="r" b="b" t="t" l="l"/>
              <a:pathLst>
                <a:path h="1161789" w="842351">
                  <a:moveTo>
                    <a:pt x="842351" y="0"/>
                  </a:moveTo>
                  <a:lnTo>
                    <a:pt x="842351" y="1161789"/>
                  </a:lnTo>
                  <a:lnTo>
                    <a:pt x="421176" y="1034789"/>
                  </a:lnTo>
                  <a:lnTo>
                    <a:pt x="0" y="1161789"/>
                  </a:lnTo>
                  <a:lnTo>
                    <a:pt x="0" y="0"/>
                  </a:lnTo>
                  <a:lnTo>
                    <a:pt x="84235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42351" cy="1072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6960" y="547493"/>
            <a:ext cx="15923102" cy="211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b="true" sz="6099" spc="2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Predic</a:t>
            </a:r>
            <a:r>
              <a:rPr lang="en-US" b="true" sz="6099" spc="2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tive Analytics</a:t>
            </a:r>
          </a:p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b="true" sz="6099" spc="2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and   Performance Monitoring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9727" y="4711400"/>
            <a:ext cx="16589573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enables data-driven educational decision-making.</a:t>
            </a:r>
          </a:p>
          <a:p>
            <a:pPr algn="ctr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</a:t>
            </a: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udent Performance Prediction:</a:t>
            </a:r>
          </a:p>
          <a:p>
            <a:pPr algn="ctr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Identifies learners at risk of poor perf</a:t>
            </a: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ormance or dropout.</a:t>
            </a:r>
          </a:p>
          <a:p>
            <a:pPr algn="ctr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Engagement Analysis:</a:t>
            </a:r>
          </a:p>
          <a:p>
            <a:pPr algn="ctr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Uses behavioural and facial-expression data to monitor learner engagement.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758F1">
                <a:alpha val="100000"/>
              </a:srgbClr>
            </a:gs>
            <a:gs pos="100000">
              <a:srgbClr val="EB936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047984"/>
            <a:ext cx="16230600" cy="38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6"/>
              </a:lnSpc>
              <a:spcBef>
                <a:spcPct val="0"/>
              </a:spcBef>
            </a:pPr>
            <a:r>
              <a:rPr lang="en-US" b="true" sz="44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44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rtificial Intelligence has the potential to transform education by improving personalization, efficiency, accessibility, and research productivity. However, its effectiveness depends on responsible and pedagogically sound usage.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12927" y="1003320"/>
            <a:ext cx="15462145" cy="1543050"/>
            <a:chOff x="0" y="0"/>
            <a:chExt cx="4072334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2334" cy="406400"/>
            </a:xfrm>
            <a:custGeom>
              <a:avLst/>
              <a:gdLst/>
              <a:ahLst/>
              <a:cxnLst/>
              <a:rect r="r" b="b" t="t" l="l"/>
              <a:pathLst>
                <a:path h="406400" w="4072334">
                  <a:moveTo>
                    <a:pt x="4072334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4072334" y="406400"/>
                  </a:lnTo>
                  <a:lnTo>
                    <a:pt x="3970734" y="203200"/>
                  </a:lnTo>
                  <a:lnTo>
                    <a:pt x="4072334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94B9FF">
                    <a:alpha val="100000"/>
                  </a:srgbClr>
                </a:gs>
                <a:gs pos="100000">
                  <a:srgbClr val="E894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88900" y="-38100"/>
              <a:ext cx="389453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42644" y="838200"/>
            <a:ext cx="8602712" cy="170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8"/>
              </a:lnSpc>
              <a:spcBef>
                <a:spcPct val="0"/>
              </a:spcBef>
            </a:pPr>
            <a:r>
              <a:rPr lang="en-US" b="true" sz="9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DAG-aI_nuKk</dc:identifier>
  <dcterms:modified xsi:type="dcterms:W3CDTF">2011-08-01T06:04:30Z</dcterms:modified>
  <cp:revision>1</cp:revision>
  <dc:title>Applications of Artificial Intelligence in Education (AIEd)</dc:title>
</cp:coreProperties>
</file>